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0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08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500">
              <a:srgbClr val="BADCFA"/>
            </a:gs>
            <a:gs pos="68000">
              <a:schemeClr val="bg2">
                <a:lumMod val="75000"/>
              </a:schemeClr>
            </a:gs>
            <a:gs pos="68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Predicting Personal Loan Acceptance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End-to-End Machine Learning Pipeline — from raw customer data to real-time prediction at scale.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98455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Business Problem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18461" y="3653552"/>
            <a:ext cx="6074093" cy="79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Banks invest heavily in campaigns to convert </a:t>
            </a: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liability customers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(depositors) into </a:t>
            </a: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asset customers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(borrowers). Broad outreach is expensive — and most of it misses.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8461" y="4576167"/>
            <a:ext cx="6074093" cy="79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goal: build an AI model that identifies </a:t>
            </a:r>
            <a:r>
              <a:rPr lang="en-US" sz="140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exactly which customers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are most likely to accept a personal loan offer, cutting waste and maximizing conversion.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467" y="1473041"/>
            <a:ext cx="6074093" cy="607409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467" y="1473041"/>
            <a:ext cx="6074093" cy="6074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03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Exploring the Data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32742"/>
            <a:ext cx="638651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29878" y="2000726"/>
            <a:ext cx="3664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28409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Snapshot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422094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analyzed </a:t>
            </a:r>
            <a:r>
              <a:rPr lang="en-US" sz="17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5,000 bank customers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14 features — including Age, Income, Education, Family size, Credit Card spending, and more.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77778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cleaning step: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Detected and corrected real-world anomalies, such as negative values for years of professional experience — an impossible result indicating data entry errors.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4050983"/>
            <a:ext cx="8284131" cy="19714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6498" y="593765"/>
            <a:ext cx="6812280" cy="526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Finding Patterns &amp; Relationships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506498" y="1369695"/>
            <a:ext cx="1867019" cy="288608"/>
          </a:xfrm>
          <a:prstGeom prst="roundRect">
            <a:avLst>
              <a:gd name="adj" fmla="val 19601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7463" y="1420178"/>
            <a:ext cx="1665089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CORRELATION ANALYSIS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28" y="1939290"/>
            <a:ext cx="6093976" cy="55560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2238" y="2951798"/>
            <a:ext cx="3799046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 the Correlation Matrix Revealed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332238" y="3602950"/>
            <a:ext cx="3799046" cy="46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Before modeling, we mapped relationships across all features. Key findings: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32238" y="4184452"/>
            <a:ext cx="3799046" cy="172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 &amp; Experience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are nearly perfectly correlated (r = 0.99) — one can be dropped without losing information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Income &amp; CCAvg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show a meaningful positive correlation (r = 0.65)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Personal Loan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has the strongest positive link with Income (r = 0.50)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32238" y="6026110"/>
            <a:ext cx="3799046" cy="46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insights guided our feature selection and model design.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6826" y="504111"/>
            <a:ext cx="7010400" cy="54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Preprocessing: Getting AI-Ready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76826" y="1320998"/>
            <a:ext cx="1841302" cy="303371"/>
          </a:xfrm>
          <a:prstGeom prst="roundRect">
            <a:avLst>
              <a:gd name="adj" fmla="val 19385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81839" y="1373505"/>
            <a:ext cx="1631275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FEATURE ENGINEERING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826" y="1776293"/>
            <a:ext cx="12076628" cy="53012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25522" y="5844319"/>
            <a:ext cx="2116898" cy="327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Clean &amp; Split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3325522" y="6264500"/>
            <a:ext cx="2116898" cy="231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80% train / 20% test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69121" y="5204052"/>
            <a:ext cx="2116898" cy="6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Validate Pipeline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269121" y="5951364"/>
            <a:ext cx="2116898" cy="46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Check for data leakage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14769" y="2332210"/>
            <a:ext cx="2116898" cy="6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Standardize Features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6314769" y="3079521"/>
            <a:ext cx="2116898" cy="46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Normalize income, family size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76826" y="7229475"/>
            <a:ext cx="12076628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Large-scale values like a $150,000 income could overwhelm small values like a family size of 2. </a:t>
            </a:r>
            <a:r>
              <a:rPr lang="en-US" sz="13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StandardScaler</a:t>
            </a: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normalizes every feature to the same range — ensuring the model weighs each signal fairly and learns without bias from raw magnitude.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5971" y="466606"/>
            <a:ext cx="6702266" cy="476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Baseline Model: Logistic Regression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55971" y="1147763"/>
            <a:ext cx="788075" cy="269677"/>
          </a:xfrm>
          <a:prstGeom prst="roundRect">
            <a:avLst>
              <a:gd name="adj" fmla="val 18993"/>
            </a:avLst>
          </a:prstGeom>
          <a:noFill/>
          <a:ln w="762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155031" y="1201103"/>
            <a:ext cx="589955" cy="162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V1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376" y="1647944"/>
            <a:ext cx="5945862" cy="5030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2333" y="3590330"/>
            <a:ext cx="190547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Results Summary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2333" y="3930848"/>
            <a:ext cx="3439597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strong starting point — but </a:t>
            </a:r>
            <a:r>
              <a:rPr lang="en-US" sz="120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1 in 3 true loan prospects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a meaningful gap for a targeted marketing strategy. We needed a more powerful approach.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55971" y="6908959"/>
            <a:ext cx="5208032" cy="853916"/>
          </a:xfrm>
          <a:prstGeom prst="roundRect">
            <a:avLst>
              <a:gd name="adj" fmla="val 749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231231" y="7084219"/>
            <a:ext cx="190547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95.5%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231231" y="7383780"/>
            <a:ext cx="4857512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Overall accuracy on the test set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66397" y="6908959"/>
            <a:ext cx="5208032" cy="853916"/>
          </a:xfrm>
          <a:prstGeom prst="roundRect">
            <a:avLst>
              <a:gd name="adj" fmla="val 749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41657" y="7084219"/>
            <a:ext cx="190547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67% Recall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41657" y="7383780"/>
            <a:ext cx="4857512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 actual loan acceptors correctly identified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378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Upgrading the Brain: Random Forest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91502"/>
            <a:ext cx="1181576" cy="426244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16278" y="2559487"/>
            <a:ext cx="90939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V2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80190" y="3172897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14624" y="34073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99.2% Accuracy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14624" y="3897749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Up from 95.5% with Logistic Regression — a dramatic improvement in overall prediction quality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317289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406182" y="34073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94% Recall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406182" y="389774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Correctly identified 94% of customers who actually wanted a loan — capturing nearly all high-value targets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810607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14624" y="60450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100 Decision Trees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14624" y="6535460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ensemble of trees voting together eliminates noise and dramatically reduces overfitting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20197"/>
            <a:ext cx="8829794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Inside the AI: Feature Importance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4260" y="1683306"/>
            <a:ext cx="1665565" cy="391001"/>
          </a:xfrm>
          <a:prstGeom prst="roundRect">
            <a:avLst>
              <a:gd name="adj" fmla="val 18274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1776" y="1747004"/>
            <a:ext cx="14105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EXPLAINABILITY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60" y="2522696"/>
            <a:ext cx="8360688" cy="48623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31204" y="2581156"/>
            <a:ext cx="3276243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Model Explains Itself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31204" y="3112770"/>
            <a:ext cx="4262438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isn't a black box. The Random Forest surfaces </a:t>
            </a:r>
            <a:r>
              <a:rPr lang="en-US" sz="165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which signals drive each prediction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enabling marketers to act on the insights: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31204" y="4610338"/>
            <a:ext cx="4262438" cy="284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Income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by far the strongest predictor (score: ~0.34)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Education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graduate-level customers convert at higher rates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CCAvg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credit card spending reflects financial behavior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Family size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influences loan appetite and need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6498" y="593765"/>
            <a:ext cx="7949565" cy="526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Real-World Application: Live Predictor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506498" y="1369695"/>
            <a:ext cx="1481495" cy="288608"/>
          </a:xfrm>
          <a:prstGeom prst="roundRect">
            <a:avLst>
              <a:gd name="adj" fmla="val 19601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07463" y="1420178"/>
            <a:ext cx="1279565" cy="187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TOOL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696" y="1939290"/>
            <a:ext cx="5384959" cy="5555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2238" y="3222427"/>
            <a:ext cx="2983349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From Model to Decision Tool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332238" y="3610451"/>
            <a:ext cx="3799046" cy="93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built an </a:t>
            </a:r>
            <a:r>
              <a:rPr lang="en-US" sz="130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prediction interface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that goes beyond historical testing. A bank representative can input any customer's profile and instantly receive: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332238" y="4661059"/>
            <a:ext cx="3799046" cy="74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</a:t>
            </a: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Yes / No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loan acceptance prediction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</a:t>
            </a: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confidence percentage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(e.g., "80% confident in a YES outcome")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32238" y="5520809"/>
            <a:ext cx="3799046" cy="70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example shown: Age 25, Income $140K, CCAvg $4.5K/mo — model outputs </a:t>
            </a:r>
            <a:r>
              <a:rPr lang="en-US" sz="13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YES at 80% confidence</a:t>
            </a: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30856"/>
            <a:ext cx="68428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 &amp; Next Steps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2186821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17306" y="21797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End-to-End Success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017306" y="267021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From messy raw data to a 99.2%-accurate, explainable AI model — the full pipeline is validated and ready for deployment.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3856672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17306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Expand the Dataset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017306" y="434006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the model on data from new bank branches or regions to validate generalizability and reduce geographic bias.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5526524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17306" y="5519499"/>
            <a:ext cx="30474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Integrate &amp; Automate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017306" y="6009918"/>
            <a:ext cx="68193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Embed the predictor into CRM workflows so marketing teams receive real-time loan propensity scores on every customer interaction.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650</Words>
  <Application>Microsoft Office PowerPoint</Application>
  <PresentationFormat>Custom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Nobile</vt:lpstr>
      <vt:lpstr>Arial</vt:lpstr>
      <vt:lpstr>Alexandria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Mondragon, Jose</cp:lastModifiedBy>
  <cp:revision>2</cp:revision>
  <dcterms:created xsi:type="dcterms:W3CDTF">2026-03-29T00:24:36Z</dcterms:created>
  <dcterms:modified xsi:type="dcterms:W3CDTF">2026-03-29T00:28:05Z</dcterms:modified>
</cp:coreProperties>
</file>